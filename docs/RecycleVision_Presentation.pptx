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Class Distribution</c:v>
                </c:pt>
              </c:strCache>
            </c:strRef>
          </c:tx>
          <c:spPr>
            <a:solidFill>
              <a:srgbClr val="5FAD5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7062-4E27-A548-CDF468BB58D3}"/>
              </c:ext>
            </c:extLst>
          </c:dPt>
          <c:dPt>
            <c:idx val="1"/>
            <c:invertIfNegative val="0"/>
            <c:bubble3D val="0"/>
            <c:spPr>
              <a:solidFill>
                <a:srgbClr val="45B7D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062-4E27-A548-CDF468BB58D3}"/>
              </c:ext>
            </c:extLst>
          </c:dPt>
          <c:dPt>
            <c:idx val="2"/>
            <c:invertIfNegative val="0"/>
            <c:bubble3D val="0"/>
            <c:spPr>
              <a:solidFill>
                <a:srgbClr val="96CEB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062-4E27-A548-CDF468BB58D3}"/>
              </c:ext>
            </c:extLst>
          </c:dPt>
          <c:dPt>
            <c:idx val="3"/>
            <c:invertIfNegative val="0"/>
            <c:bubble3D val="0"/>
            <c:spPr>
              <a:solidFill>
                <a:srgbClr val="4ECDC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7062-4E27-A548-CDF468BB58D3}"/>
              </c:ext>
            </c:extLst>
          </c:dPt>
          <c:dPt>
            <c:idx val="4"/>
            <c:invertIfNegative val="0"/>
            <c:bubble3D val="0"/>
            <c:spPr>
              <a:solidFill>
                <a:srgbClr val="FF6B6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7062-4E27-A548-CDF468BB58D3}"/>
              </c:ext>
            </c:extLst>
          </c:dPt>
          <c:dPt>
            <c:idx val="5"/>
            <c:invertIfNegative val="0"/>
            <c:bubble3D val="0"/>
            <c:spPr>
              <a:solidFill>
                <a:srgbClr val="D4A5A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7062-4E27-A548-CDF468BB58D3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cardboard</c:v>
                </c:pt>
                <c:pt idx="1">
                  <c:v>glass</c:v>
                </c:pt>
                <c:pt idx="2">
                  <c:v>metal</c:v>
                </c:pt>
                <c:pt idx="3">
                  <c:v>paper</c:v>
                </c:pt>
                <c:pt idx="4">
                  <c:v>plastic</c:v>
                </c:pt>
                <c:pt idx="5">
                  <c:v>trash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406</c:v>
                </c:pt>
                <c:pt idx="1">
                  <c:v>502</c:v>
                </c:pt>
                <c:pt idx="2">
                  <c:v>410</c:v>
                </c:pt>
                <c:pt idx="3">
                  <c:v>595</c:v>
                </c:pt>
                <c:pt idx="4">
                  <c:v>482</c:v>
                </c:pt>
                <c:pt idx="5">
                  <c:v>137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7062-4E27-A548-CDF468BB58D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C3E5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C3E5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 Accuracy</c:v>
                </c:pt>
              </c:strCache>
            </c:strRef>
          </c:tx>
          <c:spPr>
            <a:ln w="31750" cap="flat">
              <a:solidFill>
                <a:srgbClr val="2D6A4F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D6A4F"/>
              </a:solidFill>
              <a:ln w="9525" cap="flat">
                <a:solidFill>
                  <a:srgbClr val="2D6A4F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0.47</c:v>
                </c:pt>
                <c:pt idx="1">
                  <c:v>0.76</c:v>
                </c:pt>
                <c:pt idx="2">
                  <c:v>0.78</c:v>
                </c:pt>
                <c:pt idx="3">
                  <c:v>0.81</c:v>
                </c:pt>
                <c:pt idx="4">
                  <c:v>0.82</c:v>
                </c:pt>
                <c:pt idx="5">
                  <c:v>0.83</c:v>
                </c:pt>
                <c:pt idx="6">
                  <c:v>0.84</c:v>
                </c:pt>
                <c:pt idx="7">
                  <c:v>0.85</c:v>
                </c:pt>
                <c:pt idx="8">
                  <c:v>0.86</c:v>
                </c:pt>
                <c:pt idx="9">
                  <c:v>0.87</c:v>
                </c:pt>
                <c:pt idx="10">
                  <c:v>0.87</c:v>
                </c:pt>
                <c:pt idx="11">
                  <c:v>0.89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3CB1-41BE-93B1-111D617FA14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 Accuracy</c:v>
                </c:pt>
              </c:strCache>
            </c:strRef>
          </c:tx>
          <c:spPr>
            <a:ln w="31750" cap="flat">
              <a:solidFill>
                <a:srgbClr val="74C69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74C69D"/>
              </a:solidFill>
              <a:ln w="9525" cap="flat">
                <a:solidFill>
                  <a:srgbClr val="74C69D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0.76</c:v>
                </c:pt>
                <c:pt idx="1">
                  <c:v>0.77</c:v>
                </c:pt>
                <c:pt idx="2">
                  <c:v>0.8</c:v>
                </c:pt>
                <c:pt idx="3">
                  <c:v>0.8</c:v>
                </c:pt>
                <c:pt idx="4">
                  <c:v>0.82</c:v>
                </c:pt>
                <c:pt idx="5">
                  <c:v>0.84</c:v>
                </c:pt>
                <c:pt idx="6">
                  <c:v>0.82</c:v>
                </c:pt>
                <c:pt idx="7">
                  <c:v>0.83</c:v>
                </c:pt>
                <c:pt idx="8">
                  <c:v>0.83</c:v>
                </c:pt>
                <c:pt idx="9">
                  <c:v>0.84</c:v>
                </c:pt>
                <c:pt idx="10">
                  <c:v>0.83</c:v>
                </c:pt>
                <c:pt idx="11">
                  <c:v>0.84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3CB1-41BE-93B1-111D617FA14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C3E5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.4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C3E5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 Loss</c:v>
                </c:pt>
              </c:strCache>
            </c:strRef>
          </c:tx>
          <c:spPr>
            <a:ln w="31750" cap="flat">
              <a:solidFill>
                <a:srgbClr val="E76F5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76F51"/>
              </a:solidFill>
              <a:ln w="9525" cap="flat">
                <a:solidFill>
                  <a:srgbClr val="E76F51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1.86</c:v>
                </c:pt>
                <c:pt idx="1">
                  <c:v>0.72</c:v>
                </c:pt>
                <c:pt idx="2">
                  <c:v>0.7</c:v>
                </c:pt>
                <c:pt idx="3">
                  <c:v>0.56000000000000005</c:v>
                </c:pt>
                <c:pt idx="4">
                  <c:v>0.55000000000000004</c:v>
                </c:pt>
                <c:pt idx="5">
                  <c:v>0.47</c:v>
                </c:pt>
                <c:pt idx="6">
                  <c:v>0.46</c:v>
                </c:pt>
                <c:pt idx="7">
                  <c:v>0.45</c:v>
                </c:pt>
                <c:pt idx="8">
                  <c:v>0.38</c:v>
                </c:pt>
                <c:pt idx="9">
                  <c:v>0.35</c:v>
                </c:pt>
                <c:pt idx="10">
                  <c:v>0.36</c:v>
                </c:pt>
                <c:pt idx="11">
                  <c:v>0.33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FE4A-43EC-B987-1C7E80A8D2D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 Loss</c:v>
                </c:pt>
              </c:strCache>
            </c:strRef>
          </c:tx>
          <c:spPr>
            <a:ln w="31750" cap="flat">
              <a:solidFill>
                <a:srgbClr val="F4A26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4A261"/>
              </a:solidFill>
              <a:ln w="9525" cap="flat">
                <a:solidFill>
                  <a:srgbClr val="F4A261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0.7</c:v>
                </c:pt>
                <c:pt idx="1">
                  <c:v>0.62</c:v>
                </c:pt>
                <c:pt idx="2">
                  <c:v>0.53</c:v>
                </c:pt>
                <c:pt idx="3">
                  <c:v>0.51</c:v>
                </c:pt>
                <c:pt idx="4">
                  <c:v>0.51</c:v>
                </c:pt>
                <c:pt idx="5">
                  <c:v>0.48</c:v>
                </c:pt>
                <c:pt idx="6">
                  <c:v>0.5</c:v>
                </c:pt>
                <c:pt idx="7">
                  <c:v>0.56000000000000005</c:v>
                </c:pt>
                <c:pt idx="8">
                  <c:v>0.55000000000000004</c:v>
                </c:pt>
                <c:pt idx="9">
                  <c:v>0.51</c:v>
                </c:pt>
                <c:pt idx="10">
                  <c:v>0.49</c:v>
                </c:pt>
                <c:pt idx="11">
                  <c:v>0.5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FE4A-43EC-B987-1C7E80A8D2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C3E5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C3E5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F1-Score</c:v>
                </c:pt>
              </c:strCache>
            </c:strRef>
          </c:tx>
          <c:spPr>
            <a:solidFill>
              <a:srgbClr val="5FAD5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31E8-46DC-9B2B-BD40F6B3C9D5}"/>
              </c:ext>
            </c:extLst>
          </c:dPt>
          <c:dPt>
            <c:idx val="1"/>
            <c:invertIfNegative val="0"/>
            <c:bubble3D val="0"/>
            <c:spPr>
              <a:solidFill>
                <a:srgbClr val="45B7D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1E8-46DC-9B2B-BD40F6B3C9D5}"/>
              </c:ext>
            </c:extLst>
          </c:dPt>
          <c:dPt>
            <c:idx val="2"/>
            <c:invertIfNegative val="0"/>
            <c:bubble3D val="0"/>
            <c:spPr>
              <a:solidFill>
                <a:srgbClr val="96CEB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1E8-46DC-9B2B-BD40F6B3C9D5}"/>
              </c:ext>
            </c:extLst>
          </c:dPt>
          <c:dPt>
            <c:idx val="3"/>
            <c:invertIfNegative val="0"/>
            <c:bubble3D val="0"/>
            <c:spPr>
              <a:solidFill>
                <a:srgbClr val="2D6A4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31E8-46DC-9B2B-BD40F6B3C9D5}"/>
              </c:ext>
            </c:extLst>
          </c:dPt>
          <c:dPt>
            <c:idx val="4"/>
            <c:invertIfNegative val="0"/>
            <c:bubble3D val="0"/>
            <c:spPr>
              <a:solidFill>
                <a:srgbClr val="FF6B6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31E8-46DC-9B2B-BD40F6B3C9D5}"/>
              </c:ext>
            </c:extLst>
          </c:dPt>
          <c:dPt>
            <c:idx val="5"/>
            <c:invertIfNegative val="0"/>
            <c:bubble3D val="0"/>
            <c:spPr>
              <a:solidFill>
                <a:srgbClr val="D4A5A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31E8-46DC-9B2B-BD40F6B3C9D5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0.86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31E8-46DC-9B2B-BD40F6B3C9D5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0.83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31E8-46DC-9B2B-BD40F6B3C9D5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0.82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31E8-46DC-9B2B-BD40F6B3C9D5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/>
                      <a:t>0.90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31E8-46DC-9B2B-BD40F6B3C9D5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/>
                      <a:t>0.78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31E8-46DC-9B2B-BD40F6B3C9D5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/>
                      <a:t>0.60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B-31E8-46DC-9B2B-BD40F6B3C9D5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cardboard</c:v>
                </c:pt>
                <c:pt idx="1">
                  <c:v>glass</c:v>
                </c:pt>
                <c:pt idx="2">
                  <c:v>metal</c:v>
                </c:pt>
                <c:pt idx="3">
                  <c:v>paper</c:v>
                </c:pt>
                <c:pt idx="4">
                  <c:v>plastic</c:v>
                </c:pt>
                <c:pt idx="5">
                  <c:v>trash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0.86</c:v>
                </c:pt>
                <c:pt idx="1">
                  <c:v>0.83</c:v>
                </c:pt>
                <c:pt idx="2">
                  <c:v>0.82</c:v>
                </c:pt>
                <c:pt idx="3">
                  <c:v>0.9</c:v>
                </c:pt>
                <c:pt idx="4">
                  <c:v>0.78</c:v>
                </c:pt>
                <c:pt idx="5">
                  <c:v>0.6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31E8-46DC-9B2B-BD40F6B3C9D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C3E5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.4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C3E5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3136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-731520"/>
            <a:ext cx="3200400" cy="320040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2926080"/>
            <a:ext cx="1828800" cy="1828800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572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52B788"/>
                </a:solidFill>
              </a:rPr>
              <a:t>♻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365760" y="128016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RecycleVision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365760" y="233172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Garbage Image Classification Using Deep Learning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2926080"/>
            <a:ext cx="5029200" cy="36576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9" name="Shape 7"/>
          <p:cNvSpPr/>
          <p:nvPr/>
        </p:nvSpPr>
        <p:spPr>
          <a:xfrm>
            <a:off x="365760" y="3127248"/>
            <a:ext cx="1572768" cy="347472"/>
          </a:xfrm>
          <a:prstGeom prst="roundRect">
            <a:avLst>
              <a:gd name="adj" fmla="val 21053"/>
            </a:avLst>
          </a:prstGeom>
          <a:solidFill>
            <a:srgbClr val="40916C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3127248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EfficientNetB0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084832" y="3127248"/>
            <a:ext cx="1572768" cy="347472"/>
          </a:xfrm>
          <a:prstGeom prst="roundRect">
            <a:avLst>
              <a:gd name="adj" fmla="val 21053"/>
            </a:avLst>
          </a:prstGeom>
          <a:solidFill>
            <a:srgbClr val="40916C"/>
          </a:solidFill>
          <a:ln/>
        </p:spPr>
      </p:sp>
      <p:sp>
        <p:nvSpPr>
          <p:cNvPr id="12" name="Text 10"/>
          <p:cNvSpPr/>
          <p:nvPr/>
        </p:nvSpPr>
        <p:spPr>
          <a:xfrm>
            <a:off x="2084832" y="3127248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Transfer Learning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803904" y="3127248"/>
            <a:ext cx="1572768" cy="347472"/>
          </a:xfrm>
          <a:prstGeom prst="roundRect">
            <a:avLst>
              <a:gd name="adj" fmla="val 21053"/>
            </a:avLst>
          </a:prstGeom>
          <a:solidFill>
            <a:srgbClr val="40916C"/>
          </a:solidFill>
          <a:ln/>
        </p:spPr>
      </p:sp>
      <p:sp>
        <p:nvSpPr>
          <p:cNvPr id="14" name="Text 12"/>
          <p:cNvSpPr/>
          <p:nvPr/>
        </p:nvSpPr>
        <p:spPr>
          <a:xfrm>
            <a:off x="3803904" y="3127248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TensorFlow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522976" y="3127248"/>
            <a:ext cx="1572768" cy="347472"/>
          </a:xfrm>
          <a:prstGeom prst="roundRect">
            <a:avLst>
              <a:gd name="adj" fmla="val 21053"/>
            </a:avLst>
          </a:prstGeom>
          <a:solidFill>
            <a:srgbClr val="40916C"/>
          </a:solidFill>
          <a:ln/>
        </p:spPr>
      </p:sp>
      <p:sp>
        <p:nvSpPr>
          <p:cNvPr id="16" name="Text 14"/>
          <p:cNvSpPr/>
          <p:nvPr/>
        </p:nvSpPr>
        <p:spPr>
          <a:xfrm>
            <a:off x="5522976" y="3127248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Streamlit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242048" y="3127248"/>
            <a:ext cx="1572768" cy="347472"/>
          </a:xfrm>
          <a:prstGeom prst="roundRect">
            <a:avLst>
              <a:gd name="adj" fmla="val 21053"/>
            </a:avLst>
          </a:prstGeom>
          <a:solidFill>
            <a:srgbClr val="40916C"/>
          </a:solidFill>
          <a:ln/>
        </p:spPr>
      </p:sp>
      <p:sp>
        <p:nvSpPr>
          <p:cNvPr id="18" name="Text 16"/>
          <p:cNvSpPr/>
          <p:nvPr/>
        </p:nvSpPr>
        <p:spPr>
          <a:xfrm>
            <a:off x="7242048" y="3127248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6 Classes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703320"/>
            <a:ext cx="1920240" cy="914400"/>
          </a:xfrm>
          <a:prstGeom prst="rect">
            <a:avLst/>
          </a:prstGeom>
          <a:solidFill>
            <a:srgbClr val="2D6A4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374904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2B788"/>
                </a:solidFill>
              </a:rPr>
              <a:t>2,532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5760" y="422452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8F3DC"/>
                </a:solidFill>
              </a:rPr>
              <a:t>Images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542032" y="3703320"/>
            <a:ext cx="1920240" cy="914400"/>
          </a:xfrm>
          <a:prstGeom prst="rect">
            <a:avLst/>
          </a:prstGeom>
          <a:solidFill>
            <a:srgbClr val="2D6A4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542032" y="374904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2B788"/>
                </a:solidFill>
              </a:rPr>
              <a:t>6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2542032" y="422452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8F3DC"/>
                </a:solidFill>
              </a:rPr>
              <a:t>Classes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18304" y="3703320"/>
            <a:ext cx="1920240" cy="914400"/>
          </a:xfrm>
          <a:prstGeom prst="rect">
            <a:avLst/>
          </a:prstGeom>
          <a:solidFill>
            <a:srgbClr val="2D6A4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718304" y="374904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2B788"/>
                </a:solidFill>
              </a:rPr>
              <a:t>84%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4718304" y="422452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8F3DC"/>
                </a:solidFill>
              </a:rPr>
              <a:t>Accuracy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894576" y="3703320"/>
            <a:ext cx="1920240" cy="914400"/>
          </a:xfrm>
          <a:prstGeom prst="rect">
            <a:avLst/>
          </a:prstGeom>
          <a:solidFill>
            <a:srgbClr val="2D6A4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894576" y="374904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2B788"/>
                </a:solidFill>
              </a:rPr>
              <a:t>EfficientNetB0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894576" y="422452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8F3DC"/>
                </a:solidFill>
              </a:rPr>
              <a:t>Architecture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Project Overview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411480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14400"/>
            <a:ext cx="4114800" cy="384048"/>
          </a:xfrm>
          <a:prstGeom prst="rect">
            <a:avLst/>
          </a:prstGeom>
          <a:solidFill>
            <a:srgbClr val="40916C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1440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🎯  Problem Statement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389888"/>
            <a:ext cx="38404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</a:rPr>
              <a:t>Build a deep learning model to classify waste images into categories: Plastic, Metal, Glass, Paper, Cardboard &amp; Trash.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</a:rPr>
              <a:t>This system automates recycling by sorting garbage based on image input using a deep learning model deployed via a Streamlit UI.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914400"/>
            <a:ext cx="411480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914400"/>
            <a:ext cx="4114800" cy="384048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0" name="Text 8"/>
          <p:cNvSpPr/>
          <p:nvPr/>
        </p:nvSpPr>
        <p:spPr>
          <a:xfrm>
            <a:off x="4800600" y="91440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💼  Business Use Cases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46320" y="1417320"/>
            <a:ext cx="38404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rgbClr val="2C3E50"/>
                </a:solidFill>
              </a:rPr>
              <a:t>♻  Smart Recycling Bins — Auto-sort waste</a:t>
            </a:r>
            <a:endParaRPr lang="en-US" sz="1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rgbClr val="2C3E50"/>
                </a:solidFill>
              </a:rPr>
              <a:t>🏙  Municipal Waste Management — Reduce labor</a:t>
            </a:r>
            <a:endParaRPr lang="en-US" sz="1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rgbClr val="2C3E50"/>
                </a:solidFill>
              </a:rPr>
              <a:t>📚  Educational Tools — Teach segregation</a:t>
            </a:r>
            <a:endParaRPr lang="en-US" sz="1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rgbClr val="2C3E50"/>
                </a:solidFill>
              </a:rPr>
              <a:t>📊  Environmental Analytics — Track trends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3840480"/>
            <a:ext cx="8503920" cy="1005840"/>
          </a:xfrm>
          <a:prstGeom prst="rect">
            <a:avLst/>
          </a:prstGeom>
          <a:solidFill>
            <a:srgbClr val="1B4332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11480" y="3904488"/>
            <a:ext cx="1188720" cy="841248"/>
          </a:xfrm>
          <a:prstGeom prst="rect">
            <a:avLst/>
          </a:prstGeom>
          <a:solidFill>
            <a:srgbClr val="40916C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390448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4160520"/>
            <a:ext cx="1188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Data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Prep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837944" y="3904488"/>
            <a:ext cx="1188720" cy="841248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17" name="Text 15"/>
          <p:cNvSpPr/>
          <p:nvPr/>
        </p:nvSpPr>
        <p:spPr>
          <a:xfrm>
            <a:off x="1837944" y="390448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837944" y="4160520"/>
            <a:ext cx="1188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EDA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64408" y="3904488"/>
            <a:ext cx="1188720" cy="841248"/>
          </a:xfrm>
          <a:prstGeom prst="rect">
            <a:avLst/>
          </a:prstGeom>
          <a:solidFill>
            <a:srgbClr val="40916C"/>
          </a:solidFill>
          <a:ln/>
        </p:spPr>
      </p:sp>
      <p:sp>
        <p:nvSpPr>
          <p:cNvPr id="20" name="Text 18"/>
          <p:cNvSpPr/>
          <p:nvPr/>
        </p:nvSpPr>
        <p:spPr>
          <a:xfrm>
            <a:off x="3264408" y="390448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64408" y="4160520"/>
            <a:ext cx="1188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Preprocess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&amp; Augment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690872" y="3904488"/>
            <a:ext cx="1188720" cy="841248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23" name="Text 21"/>
          <p:cNvSpPr/>
          <p:nvPr/>
        </p:nvSpPr>
        <p:spPr>
          <a:xfrm>
            <a:off x="4690872" y="390448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690872" y="4160520"/>
            <a:ext cx="1188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Model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Build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117336" y="3904488"/>
            <a:ext cx="1188720" cy="841248"/>
          </a:xfrm>
          <a:prstGeom prst="rect">
            <a:avLst/>
          </a:prstGeom>
          <a:solidFill>
            <a:srgbClr val="40916C"/>
          </a:solidFill>
          <a:ln/>
        </p:spPr>
      </p:sp>
      <p:sp>
        <p:nvSpPr>
          <p:cNvPr id="26" name="Text 24"/>
          <p:cNvSpPr/>
          <p:nvPr/>
        </p:nvSpPr>
        <p:spPr>
          <a:xfrm>
            <a:off x="6117336" y="390448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117336" y="4160520"/>
            <a:ext cx="1188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Train &amp;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Evaluate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543800" y="3904488"/>
            <a:ext cx="1188720" cy="841248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29" name="Text 27"/>
          <p:cNvSpPr/>
          <p:nvPr/>
        </p:nvSpPr>
        <p:spPr>
          <a:xfrm>
            <a:off x="7543800" y="390448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543800" y="4160520"/>
            <a:ext cx="1188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Streamlit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App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Dataset &amp; Exploratory Data Analysis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1920240" cy="868680"/>
          </a:xfrm>
          <a:prstGeom prst="rect">
            <a:avLst/>
          </a:prstGeom>
          <a:solidFill>
            <a:srgbClr val="1B4332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960120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2B788"/>
                </a:solidFill>
              </a:rPr>
              <a:t>2,532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20040" y="139903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8F3DC"/>
                </a:solidFill>
              </a:rPr>
              <a:t>Total Images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68880" y="914400"/>
            <a:ext cx="1920240" cy="868680"/>
          </a:xfrm>
          <a:prstGeom prst="rect">
            <a:avLst/>
          </a:prstGeom>
          <a:solidFill>
            <a:srgbClr val="1B4332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68880" y="960120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2B788"/>
                </a:solidFill>
              </a:rPr>
              <a:t>6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468880" y="139903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8F3DC"/>
                </a:solidFill>
              </a:rPr>
              <a:t>Classes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17720" y="914400"/>
            <a:ext cx="1920240" cy="868680"/>
          </a:xfrm>
          <a:prstGeom prst="rect">
            <a:avLst/>
          </a:prstGeom>
          <a:solidFill>
            <a:srgbClr val="1B4332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17720" y="960120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2B788"/>
                </a:solidFill>
              </a:rPr>
              <a:t>384×512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617720" y="139903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8F3DC"/>
                </a:solidFill>
              </a:rPr>
              <a:t>Image Size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766560" y="914400"/>
            <a:ext cx="1920240" cy="868680"/>
          </a:xfrm>
          <a:prstGeom prst="rect">
            <a:avLst/>
          </a:prstGeom>
          <a:solidFill>
            <a:srgbClr val="1B4332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66560" y="960120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2B788"/>
                </a:solidFill>
              </a:rPr>
              <a:t>80/20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766560" y="139903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8F3DC"/>
                </a:solidFill>
              </a:rPr>
              <a:t>Train/Val Split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0040" y="192024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</a:rPr>
              <a:t>Class Distribution</a:t>
            </a:r>
            <a:endParaRPr lang="en-US" sz="1400" dirty="0"/>
          </a:p>
        </p:txBody>
      </p:sp>
      <p:graphicFrame>
        <p:nvGraphicFramePr>
          <p:cNvPr id="17" name="Chart 0"/>
          <p:cNvGraphicFramePr/>
          <p:nvPr/>
        </p:nvGraphicFramePr>
        <p:xfrm>
          <a:off x="320040" y="2286000"/>
          <a:ext cx="5029200" cy="2606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8" name="Shape 15"/>
          <p:cNvSpPr/>
          <p:nvPr/>
        </p:nvSpPr>
        <p:spPr>
          <a:xfrm>
            <a:off x="5577840" y="1920240"/>
            <a:ext cx="3291840" cy="2971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577840" y="1920240"/>
            <a:ext cx="3291840" cy="36576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20" name="Text 17"/>
          <p:cNvSpPr/>
          <p:nvPr/>
        </p:nvSpPr>
        <p:spPr>
          <a:xfrm>
            <a:off x="5577840" y="19202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Class-wise Sample Count</a:t>
            </a:r>
            <a:endParaRPr lang="en-US" sz="12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23560" y="2331720"/>
          <a:ext cx="3200400" cy="2468879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269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916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916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916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269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Cardboard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269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269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269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269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Plastic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269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76F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Trash ⚠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76F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76F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2" name="Shape 18"/>
          <p:cNvSpPr/>
          <p:nvPr/>
        </p:nvSpPr>
        <p:spPr>
          <a:xfrm>
            <a:off x="320040" y="4864608"/>
            <a:ext cx="8503920" cy="201168"/>
          </a:xfrm>
          <a:prstGeom prst="rect">
            <a:avLst/>
          </a:prstGeom>
          <a:solidFill>
            <a:srgbClr val="D8F3DC"/>
          </a:solidFill>
          <a:ln/>
        </p:spPr>
      </p:sp>
      <p:sp>
        <p:nvSpPr>
          <p:cNvPr id="23" name="Text 19"/>
          <p:cNvSpPr/>
          <p:nvPr/>
        </p:nvSpPr>
        <p:spPr>
          <a:xfrm>
            <a:off x="365760" y="486460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4332"/>
                </a:solidFill>
              </a:rPr>
              <a:t>⚠  Class Imbalance: Trash (137) vs Paper (595) — Ratio 4.34:1 → Handled via Class Weights in training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 Preprocessing &amp; Augmentation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4023360" cy="3977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14400"/>
            <a:ext cx="4023360" cy="384048"/>
          </a:xfrm>
          <a:prstGeom prst="rect">
            <a:avLst/>
          </a:prstGeom>
          <a:solidFill>
            <a:srgbClr val="40916C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1440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⚙  Preprocessing Pipeline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320040" cy="320040"/>
          </a:xfrm>
          <a:prstGeom prst="ellipse">
            <a:avLst/>
          </a:prstGeom>
          <a:solidFill>
            <a:srgbClr val="52B788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4173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🖼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41248" y="14173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332"/>
                </a:solidFill>
              </a:rPr>
              <a:t>Resize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901952" y="14173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</a:rPr>
              <a:t>All images resized to 224×224 pixels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075688"/>
            <a:ext cx="320040" cy="320040"/>
          </a:xfrm>
          <a:prstGeom prst="ellipse">
            <a:avLst/>
          </a:prstGeom>
          <a:solidFill>
            <a:srgbClr val="52B788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07568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📊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41248" y="207568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332"/>
                </a:solidFill>
              </a:rPr>
              <a:t>Normalize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901952" y="207568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</a:rPr>
              <a:t>EfficientNet-specific preprocess_input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734056"/>
            <a:ext cx="320040" cy="320040"/>
          </a:xfrm>
          <a:prstGeom prst="ellipse">
            <a:avLst/>
          </a:prstGeom>
          <a:solidFill>
            <a:srgbClr val="52B788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73405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✂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41248" y="2734056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332"/>
                </a:solidFill>
              </a:rPr>
              <a:t>Split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901952" y="2734056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</a:rPr>
              <a:t>80% Training (2,027) | 20% Validation (505)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392424"/>
            <a:ext cx="320040" cy="320040"/>
          </a:xfrm>
          <a:prstGeom prst="ellipse">
            <a:avLst/>
          </a:prstGeom>
          <a:solidFill>
            <a:srgbClr val="52B788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39242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⚖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41248" y="3392424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332"/>
                </a:solidFill>
              </a:rPr>
              <a:t>Class Weights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901952" y="3392424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</a:rPr>
              <a:t>Balanced weights computed via sklearn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050792"/>
            <a:ext cx="320040" cy="320040"/>
          </a:xfrm>
          <a:prstGeom prst="ellipse">
            <a:avLst/>
          </a:prstGeom>
          <a:solidFill>
            <a:srgbClr val="52B788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05079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🔄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41248" y="4050792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332"/>
                </a:solidFill>
              </a:rPr>
              <a:t>Augmentation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901952" y="405079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</a:rPr>
              <a:t>Applied only to training data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0" y="914400"/>
            <a:ext cx="4251960" cy="3977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72000" y="914400"/>
            <a:ext cx="4251960" cy="384048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29" name="Text 27"/>
          <p:cNvSpPr/>
          <p:nvPr/>
        </p:nvSpPr>
        <p:spPr>
          <a:xfrm>
            <a:off x="4617720" y="91440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🔄  Augmentation Parameters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617720" y="1389888"/>
            <a:ext cx="4114800" cy="384048"/>
          </a:xfrm>
          <a:prstGeom prst="rect">
            <a:avLst/>
          </a:prstGeom>
          <a:solidFill>
            <a:srgbClr val="D8F3DC"/>
          </a:solidFill>
          <a:ln/>
        </p:spPr>
      </p:sp>
      <p:sp>
        <p:nvSpPr>
          <p:cNvPr id="31" name="Text 29"/>
          <p:cNvSpPr/>
          <p:nvPr/>
        </p:nvSpPr>
        <p:spPr>
          <a:xfrm>
            <a:off x="4663440" y="138988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</a:rPr>
              <a:t>Rotation Range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315200" y="1435608"/>
            <a:ext cx="1188720" cy="292608"/>
          </a:xfrm>
          <a:prstGeom prst="roundRect">
            <a:avLst>
              <a:gd name="adj" fmla="val 15625"/>
            </a:avLst>
          </a:prstGeom>
          <a:solidFill>
            <a:srgbClr val="40916C"/>
          </a:solidFill>
          <a:ln/>
        </p:spPr>
      </p:sp>
      <p:sp>
        <p:nvSpPr>
          <p:cNvPr id="33" name="Text 31"/>
          <p:cNvSpPr/>
          <p:nvPr/>
        </p:nvSpPr>
        <p:spPr>
          <a:xfrm>
            <a:off x="7315200" y="1435608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25°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617720" y="1828800"/>
            <a:ext cx="411480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4663440" y="18288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</a:rPr>
              <a:t>Zoom Range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315200" y="1874520"/>
            <a:ext cx="1188720" cy="292608"/>
          </a:xfrm>
          <a:prstGeom prst="roundRect">
            <a:avLst>
              <a:gd name="adj" fmla="val 15625"/>
            </a:avLst>
          </a:prstGeom>
          <a:solidFill>
            <a:srgbClr val="40916C"/>
          </a:solidFill>
          <a:ln/>
        </p:spPr>
      </p:sp>
      <p:sp>
        <p:nvSpPr>
          <p:cNvPr id="37" name="Text 35"/>
          <p:cNvSpPr/>
          <p:nvPr/>
        </p:nvSpPr>
        <p:spPr>
          <a:xfrm>
            <a:off x="7315200" y="187452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20%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617720" y="2267712"/>
            <a:ext cx="4114800" cy="384048"/>
          </a:xfrm>
          <a:prstGeom prst="rect">
            <a:avLst/>
          </a:prstGeom>
          <a:solidFill>
            <a:srgbClr val="D8F3DC"/>
          </a:solidFill>
          <a:ln/>
        </p:spPr>
      </p:sp>
      <p:sp>
        <p:nvSpPr>
          <p:cNvPr id="39" name="Text 37"/>
          <p:cNvSpPr/>
          <p:nvPr/>
        </p:nvSpPr>
        <p:spPr>
          <a:xfrm>
            <a:off x="4663440" y="226771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</a:rPr>
              <a:t>Width Shift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315200" y="2313432"/>
            <a:ext cx="1188720" cy="292608"/>
          </a:xfrm>
          <a:prstGeom prst="roundRect">
            <a:avLst>
              <a:gd name="adj" fmla="val 15625"/>
            </a:avLst>
          </a:prstGeom>
          <a:solidFill>
            <a:srgbClr val="40916C"/>
          </a:solidFill>
          <a:ln/>
        </p:spPr>
      </p:sp>
      <p:sp>
        <p:nvSpPr>
          <p:cNvPr id="41" name="Text 39"/>
          <p:cNvSpPr/>
          <p:nvPr/>
        </p:nvSpPr>
        <p:spPr>
          <a:xfrm>
            <a:off x="7315200" y="2313432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20%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4617720" y="2706624"/>
            <a:ext cx="411480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Text 41"/>
          <p:cNvSpPr/>
          <p:nvPr/>
        </p:nvSpPr>
        <p:spPr>
          <a:xfrm>
            <a:off x="4663440" y="270662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</a:rPr>
              <a:t>Height Shift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7315200" y="2752344"/>
            <a:ext cx="1188720" cy="292608"/>
          </a:xfrm>
          <a:prstGeom prst="roundRect">
            <a:avLst>
              <a:gd name="adj" fmla="val 15625"/>
            </a:avLst>
          </a:prstGeom>
          <a:solidFill>
            <a:srgbClr val="40916C"/>
          </a:solidFill>
          <a:ln/>
        </p:spPr>
      </p:sp>
      <p:sp>
        <p:nvSpPr>
          <p:cNvPr id="45" name="Text 43"/>
          <p:cNvSpPr/>
          <p:nvPr/>
        </p:nvSpPr>
        <p:spPr>
          <a:xfrm>
            <a:off x="7315200" y="2752344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20%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4617720" y="3145536"/>
            <a:ext cx="4114800" cy="384048"/>
          </a:xfrm>
          <a:prstGeom prst="rect">
            <a:avLst/>
          </a:prstGeom>
          <a:solidFill>
            <a:srgbClr val="D8F3DC"/>
          </a:solidFill>
          <a:ln/>
        </p:spPr>
      </p:sp>
      <p:sp>
        <p:nvSpPr>
          <p:cNvPr id="47" name="Text 45"/>
          <p:cNvSpPr/>
          <p:nvPr/>
        </p:nvSpPr>
        <p:spPr>
          <a:xfrm>
            <a:off x="4663440" y="3145536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</a:rPr>
              <a:t>Horizontal Flip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7315200" y="3191256"/>
            <a:ext cx="1188720" cy="292608"/>
          </a:xfrm>
          <a:prstGeom prst="roundRect">
            <a:avLst>
              <a:gd name="adj" fmla="val 15625"/>
            </a:avLst>
          </a:prstGeom>
          <a:solidFill>
            <a:srgbClr val="40916C"/>
          </a:solidFill>
          <a:ln/>
        </p:spPr>
      </p:sp>
      <p:sp>
        <p:nvSpPr>
          <p:cNvPr id="49" name="Text 47"/>
          <p:cNvSpPr/>
          <p:nvPr/>
        </p:nvSpPr>
        <p:spPr>
          <a:xfrm>
            <a:off x="7315200" y="3191256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True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4617720" y="3584448"/>
            <a:ext cx="411480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1" name="Text 49"/>
          <p:cNvSpPr/>
          <p:nvPr/>
        </p:nvSpPr>
        <p:spPr>
          <a:xfrm>
            <a:off x="4663440" y="358444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</a:rPr>
              <a:t>Fill Mode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7315200" y="3630168"/>
            <a:ext cx="1188720" cy="292608"/>
          </a:xfrm>
          <a:prstGeom prst="roundRect">
            <a:avLst>
              <a:gd name="adj" fmla="val 15625"/>
            </a:avLst>
          </a:prstGeom>
          <a:solidFill>
            <a:srgbClr val="40916C"/>
          </a:solidFill>
          <a:ln/>
        </p:spPr>
      </p:sp>
      <p:sp>
        <p:nvSpPr>
          <p:cNvPr id="53" name="Text 51"/>
          <p:cNvSpPr/>
          <p:nvPr/>
        </p:nvSpPr>
        <p:spPr>
          <a:xfrm>
            <a:off x="7315200" y="3630168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Nearest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4617720" y="4023360"/>
            <a:ext cx="4114800" cy="6858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55" name="Text 53"/>
          <p:cNvSpPr/>
          <p:nvPr/>
        </p:nvSpPr>
        <p:spPr>
          <a:xfrm>
            <a:off x="4663440" y="4023360"/>
            <a:ext cx="4023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2B788"/>
                </a:solidFill>
              </a:rPr>
              <a:t>⚡  GPU Detected &amp; Enabled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2B788"/>
                </a:solidFill>
              </a:rPr>
              <a:t>TensorFlow 2.19.0 | Batch Size: 32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Model Architecture — EfficientNetB0 (Transfer Learning)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96112"/>
            <a:ext cx="5303520" cy="420624"/>
          </a:xfrm>
          <a:prstGeom prst="rect">
            <a:avLst/>
          </a:prstGeom>
          <a:solidFill>
            <a:srgbClr val="2C3E5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84048" y="896112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Input Layer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834640" y="896112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8F3DC"/>
                </a:solidFill>
              </a:rPr>
              <a:t>224 × 224 × 3 (RGB Image)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325880" y="1316736"/>
            <a:ext cx="73152" cy="91440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1417320"/>
            <a:ext cx="5303520" cy="420624"/>
          </a:xfrm>
          <a:prstGeom prst="rect">
            <a:avLst/>
          </a:prstGeom>
          <a:solidFill>
            <a:srgbClr val="1B4332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84048" y="1417320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EfficientNetB0 (Frozen)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834640" y="141732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8F3DC"/>
                </a:solidFill>
              </a:rPr>
              <a:t>Pre-trained on ImageNet — Feature Extraction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325880" y="1837944"/>
            <a:ext cx="73152" cy="91440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12" name="Shape 10"/>
          <p:cNvSpPr/>
          <p:nvPr/>
        </p:nvSpPr>
        <p:spPr>
          <a:xfrm>
            <a:off x="320040" y="1938528"/>
            <a:ext cx="5303520" cy="420624"/>
          </a:xfrm>
          <a:prstGeom prst="rect">
            <a:avLst/>
          </a:prstGeom>
          <a:solidFill>
            <a:srgbClr val="2D6A4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84048" y="1938528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GlobalAveragePooling2D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834640" y="1938528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8F3DC"/>
                </a:solidFill>
              </a:rPr>
              <a:t>Spatial feature compression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325880" y="2359152"/>
            <a:ext cx="73152" cy="91440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16" name="Shape 14"/>
          <p:cNvSpPr/>
          <p:nvPr/>
        </p:nvSpPr>
        <p:spPr>
          <a:xfrm>
            <a:off x="320040" y="2459736"/>
            <a:ext cx="5303520" cy="420624"/>
          </a:xfrm>
          <a:prstGeom prst="rect">
            <a:avLst/>
          </a:prstGeom>
          <a:solidFill>
            <a:srgbClr val="40916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84048" y="2459736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BatchNormalization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834640" y="2459736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8F3DC"/>
                </a:solidFill>
              </a:rPr>
              <a:t>Stable training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325880" y="2880360"/>
            <a:ext cx="73152" cy="91440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20" name="Shape 18"/>
          <p:cNvSpPr/>
          <p:nvPr/>
        </p:nvSpPr>
        <p:spPr>
          <a:xfrm>
            <a:off x="320040" y="2980944"/>
            <a:ext cx="5303520" cy="420624"/>
          </a:xfrm>
          <a:prstGeom prst="rect">
            <a:avLst/>
          </a:prstGeom>
          <a:solidFill>
            <a:srgbClr val="52B78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84048" y="2980944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Dropout (0.5)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834640" y="2980944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8F3DC"/>
                </a:solidFill>
              </a:rPr>
              <a:t>Prevent overfitting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325880" y="3401568"/>
            <a:ext cx="73152" cy="91440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24" name="Shape 22"/>
          <p:cNvSpPr/>
          <p:nvPr/>
        </p:nvSpPr>
        <p:spPr>
          <a:xfrm>
            <a:off x="320040" y="3502152"/>
            <a:ext cx="5303520" cy="420624"/>
          </a:xfrm>
          <a:prstGeom prst="rect">
            <a:avLst/>
          </a:prstGeom>
          <a:solidFill>
            <a:srgbClr val="40916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84048" y="3502152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Dense (256, ReLU)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834640" y="3502152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8F3DC"/>
                </a:solidFill>
              </a:rPr>
              <a:t>Custom classifier head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325880" y="3922776"/>
            <a:ext cx="73152" cy="91440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28" name="Shape 26"/>
          <p:cNvSpPr/>
          <p:nvPr/>
        </p:nvSpPr>
        <p:spPr>
          <a:xfrm>
            <a:off x="320040" y="4023360"/>
            <a:ext cx="5303520" cy="420624"/>
          </a:xfrm>
          <a:prstGeom prst="rect">
            <a:avLst/>
          </a:prstGeom>
          <a:solidFill>
            <a:srgbClr val="52B78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84048" y="4023360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Dropout (0.4)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834640" y="402336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8F3DC"/>
                </a:solidFill>
              </a:rPr>
              <a:t>Additional regularization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325880" y="4443984"/>
            <a:ext cx="73152" cy="91440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32" name="Shape 30"/>
          <p:cNvSpPr/>
          <p:nvPr/>
        </p:nvSpPr>
        <p:spPr>
          <a:xfrm>
            <a:off x="320040" y="4544568"/>
            <a:ext cx="5303520" cy="420624"/>
          </a:xfrm>
          <a:prstGeom prst="rect">
            <a:avLst/>
          </a:prstGeom>
          <a:solidFill>
            <a:srgbClr val="1B4332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384048" y="4544568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Dense (6, Softmax)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834640" y="4544568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8F3DC"/>
                </a:solidFill>
              </a:rPr>
              <a:t>6-class output prediction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852160" y="896112"/>
            <a:ext cx="2971800" cy="3977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852160" y="896112"/>
            <a:ext cx="2971800" cy="384048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7" name="Text 35"/>
          <p:cNvSpPr/>
          <p:nvPr/>
        </p:nvSpPr>
        <p:spPr>
          <a:xfrm>
            <a:off x="5897880" y="896112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📊  Model Parameters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5897880" y="1389888"/>
            <a:ext cx="2834640" cy="548640"/>
          </a:xfrm>
          <a:prstGeom prst="rect">
            <a:avLst/>
          </a:prstGeom>
          <a:solidFill>
            <a:srgbClr val="F8FAF9"/>
          </a:solidFill>
          <a:ln/>
        </p:spPr>
      </p:sp>
      <p:sp>
        <p:nvSpPr>
          <p:cNvPr id="39" name="Text 37"/>
          <p:cNvSpPr/>
          <p:nvPr/>
        </p:nvSpPr>
        <p:spPr>
          <a:xfrm>
            <a:off x="5943600" y="13898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</a:rPr>
              <a:t>Total Params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943600" y="16459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</a:rPr>
              <a:t>4,384,169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7589520" y="16459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C757D"/>
                </a:solidFill>
              </a:rPr>
              <a:t>16.72 MB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897880" y="2048256"/>
            <a:ext cx="2834640" cy="548640"/>
          </a:xfrm>
          <a:prstGeom prst="rect">
            <a:avLst/>
          </a:prstGeom>
          <a:solidFill>
            <a:srgbClr val="D8F3DC"/>
          </a:solidFill>
          <a:ln/>
        </p:spPr>
      </p:sp>
      <p:sp>
        <p:nvSpPr>
          <p:cNvPr id="43" name="Text 41"/>
          <p:cNvSpPr/>
          <p:nvPr/>
        </p:nvSpPr>
        <p:spPr>
          <a:xfrm>
            <a:off x="5943600" y="204825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</a:rPr>
              <a:t>Trainable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943600" y="23042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</a:rPr>
              <a:t>332,038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7589520" y="230428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C757D"/>
                </a:solidFill>
              </a:rPr>
              <a:t>1.27 MB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897880" y="2706624"/>
            <a:ext cx="2834640" cy="548640"/>
          </a:xfrm>
          <a:prstGeom prst="rect">
            <a:avLst/>
          </a:prstGeom>
          <a:solidFill>
            <a:srgbClr val="F8FAF9"/>
          </a:solidFill>
          <a:ln/>
        </p:spPr>
      </p:sp>
      <p:sp>
        <p:nvSpPr>
          <p:cNvPr id="47" name="Text 45"/>
          <p:cNvSpPr/>
          <p:nvPr/>
        </p:nvSpPr>
        <p:spPr>
          <a:xfrm>
            <a:off x="5943600" y="270662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</a:rPr>
              <a:t>Non-trainable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943600" y="296265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</a:rPr>
              <a:t>4,052,131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7589520" y="296265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C757D"/>
                </a:solidFill>
              </a:rPr>
              <a:t>15.46 MB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5897880" y="3383280"/>
            <a:ext cx="2834640" cy="13716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51" name="Text 49"/>
          <p:cNvSpPr/>
          <p:nvPr/>
        </p:nvSpPr>
        <p:spPr>
          <a:xfrm>
            <a:off x="5943600" y="3429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2B788"/>
                </a:solidFill>
              </a:rPr>
              <a:t>Training Config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943600" y="37490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8F3DC"/>
                </a:solidFill>
              </a:rPr>
              <a:t>Optimizer: Adam (lr=0.001)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5943600" y="39959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8F3DC"/>
                </a:solidFill>
              </a:rPr>
              <a:t>Loss: Categorical Crossentropy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5943600" y="424281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8F3DC"/>
                </a:solidFill>
              </a:rPr>
              <a:t>Batch Size: 32  |  Epochs: 25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5943600" y="448970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8F3DC"/>
                </a:solidFill>
              </a:rPr>
              <a:t>EarlyStopping + ReduceLROnPlateau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Model Training Results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914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</a:rPr>
              <a:t>Model Accuracy</a:t>
            </a:r>
            <a:endParaRPr lang="en-US" sz="14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20040" y="1234440"/>
          <a:ext cx="41148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4709160" y="914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</a:rPr>
              <a:t>Model Loss</a:t>
            </a:r>
            <a:endParaRPr lang="en-US" sz="1400" dirty="0"/>
          </a:p>
        </p:txBody>
      </p:sp>
      <p:graphicFrame>
        <p:nvGraphicFramePr>
          <p:cNvPr id="7" name="Chart 1"/>
          <p:cNvGraphicFramePr/>
          <p:nvPr/>
        </p:nvGraphicFramePr>
        <p:xfrm>
          <a:off x="4709160" y="1234440"/>
          <a:ext cx="41148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Shape 4"/>
          <p:cNvSpPr/>
          <p:nvPr/>
        </p:nvSpPr>
        <p:spPr>
          <a:xfrm>
            <a:off x="320040" y="4160520"/>
            <a:ext cx="8503920" cy="868680"/>
          </a:xfrm>
          <a:prstGeom prst="rect">
            <a:avLst/>
          </a:prstGeom>
          <a:solidFill>
            <a:srgbClr val="1B4332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384048" y="4233672"/>
            <a:ext cx="1993392" cy="658368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0" name="Text 6"/>
          <p:cNvSpPr/>
          <p:nvPr/>
        </p:nvSpPr>
        <p:spPr>
          <a:xfrm>
            <a:off x="384048" y="4233672"/>
            <a:ext cx="19933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✅ Val Acc: 76%→84%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2505456" y="4233672"/>
            <a:ext cx="1993392" cy="658368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2" name="Text 8"/>
          <p:cNvSpPr/>
          <p:nvPr/>
        </p:nvSpPr>
        <p:spPr>
          <a:xfrm>
            <a:off x="2505456" y="4233672"/>
            <a:ext cx="19933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✅ LR reduced (×0.3) at Epoch 9,12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4626864" y="4233672"/>
            <a:ext cx="1993392" cy="658368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4" name="Text 10"/>
          <p:cNvSpPr/>
          <p:nvPr/>
        </p:nvSpPr>
        <p:spPr>
          <a:xfrm>
            <a:off x="4626864" y="4233672"/>
            <a:ext cx="19933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✅ Early Stopping active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748272" y="4233672"/>
            <a:ext cx="1993392" cy="658368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6" name="Text 12"/>
          <p:cNvSpPr/>
          <p:nvPr/>
        </p:nvSpPr>
        <p:spPr>
          <a:xfrm>
            <a:off x="6748272" y="4233672"/>
            <a:ext cx="19933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⚠ Slight overfit Epoch 7+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Model Evaluation — Classification Report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1920240" cy="914400"/>
          </a:xfrm>
          <a:prstGeom prst="rect">
            <a:avLst/>
          </a:prstGeom>
          <a:solidFill>
            <a:srgbClr val="1B4332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96012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52B788"/>
                </a:solidFill>
              </a:rPr>
              <a:t>83%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20040" y="143560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8F3DC"/>
                </a:solidFill>
              </a:rPr>
              <a:t>Accuracy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68880" y="914400"/>
            <a:ext cx="1920240" cy="914400"/>
          </a:xfrm>
          <a:prstGeom prst="rect">
            <a:avLst/>
          </a:prstGeom>
          <a:solidFill>
            <a:srgbClr val="1B4332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68880" y="96012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52B788"/>
                </a:solidFill>
              </a:rPr>
              <a:t>84%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468880" y="143560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8F3DC"/>
                </a:solidFill>
              </a:rPr>
              <a:t>Precision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17720" y="914400"/>
            <a:ext cx="1920240" cy="914400"/>
          </a:xfrm>
          <a:prstGeom prst="rect">
            <a:avLst/>
          </a:prstGeom>
          <a:solidFill>
            <a:srgbClr val="1B4332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17720" y="96012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52B788"/>
                </a:solidFill>
              </a:rPr>
              <a:t>83%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617720" y="143560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8F3DC"/>
                </a:solidFill>
              </a:rPr>
              <a:t>Recall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766560" y="914400"/>
            <a:ext cx="1920240" cy="914400"/>
          </a:xfrm>
          <a:prstGeom prst="rect">
            <a:avLst/>
          </a:prstGeom>
          <a:solidFill>
            <a:srgbClr val="1B4332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66560" y="96012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52B788"/>
                </a:solidFill>
              </a:rPr>
              <a:t>83%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766560" y="143560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8F3DC"/>
                </a:solidFill>
              </a:rPr>
              <a:t>F1-Score</a:t>
            </a:r>
            <a:endParaRPr lang="en-US" sz="11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938528"/>
          <a:ext cx="5303520" cy="297180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Cardboard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 ⭐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Plastic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76F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Trash ⚠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76F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76F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76F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Weighted Avg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7" name="Text 14"/>
          <p:cNvSpPr/>
          <p:nvPr/>
        </p:nvSpPr>
        <p:spPr>
          <a:xfrm>
            <a:off x="5760720" y="192024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</a:rPr>
              <a:t>Class F1-Score Comparison</a:t>
            </a:r>
            <a:endParaRPr lang="en-US" sz="1300" dirty="0"/>
          </a:p>
        </p:txBody>
      </p:sp>
      <p:graphicFrame>
        <p:nvGraphicFramePr>
          <p:cNvPr id="18" name="Chart 0"/>
          <p:cNvGraphicFramePr/>
          <p:nvPr>
            <p:extLst>
              <p:ext uri="{D42A27DB-BD31-4B8C-83A1-F6EECF244321}">
                <p14:modId xmlns:p14="http://schemas.microsoft.com/office/powerpoint/2010/main" val="1964542750"/>
              </p:ext>
            </p:extLst>
          </p:nvPr>
        </p:nvGraphicFramePr>
        <p:xfrm>
          <a:off x="5760720" y="2286000"/>
          <a:ext cx="3063240" cy="2651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9" name="Shape 15"/>
          <p:cNvSpPr/>
          <p:nvPr/>
        </p:nvSpPr>
        <p:spPr>
          <a:xfrm>
            <a:off x="320040" y="4892040"/>
            <a:ext cx="8503920" cy="201168"/>
          </a:xfrm>
          <a:prstGeom prst="rect">
            <a:avLst/>
          </a:prstGeom>
          <a:solidFill>
            <a:srgbClr val="D8F3DC"/>
          </a:solidFill>
          <a:ln/>
        </p:spPr>
      </p:sp>
      <p:sp>
        <p:nvSpPr>
          <p:cNvPr id="20" name="Text 16"/>
          <p:cNvSpPr/>
          <p:nvPr/>
        </p:nvSpPr>
        <p:spPr>
          <a:xfrm>
            <a:off x="365760" y="489204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4332"/>
                </a:solidFill>
              </a:rPr>
              <a:t>📌  Paper: Best F1 (0.90)  |  Trash: Lowest F1 (0.60) due to only 137 training samples  |  Overall Accuracy: 83%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Confusion Matrix Analysis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914400"/>
          <a:ext cx="5943600" cy="411480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8782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True↓ Pred→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cardboard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glass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plastic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trash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782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cardboard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76F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76F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782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76F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782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76F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782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782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plastic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76F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76F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782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trash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0" y="914400"/>
            <a:ext cx="2423160" cy="4114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00800" y="914400"/>
            <a:ext cx="2423160" cy="384048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7" name="Text 4"/>
          <p:cNvSpPr/>
          <p:nvPr/>
        </p:nvSpPr>
        <p:spPr>
          <a:xfrm>
            <a:off x="6446520" y="91440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Key Findings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46520" y="1389888"/>
            <a:ext cx="2286000" cy="475488"/>
          </a:xfrm>
          <a:prstGeom prst="rect">
            <a:avLst/>
          </a:prstGeom>
          <a:solidFill>
            <a:srgbClr val="D8F3DC"/>
          </a:solidFill>
          <a:ln/>
        </p:spPr>
      </p:sp>
      <p:sp>
        <p:nvSpPr>
          <p:cNvPr id="4" name="Text 6"/>
          <p:cNvSpPr/>
          <p:nvPr/>
        </p:nvSpPr>
        <p:spPr>
          <a:xfrm>
            <a:off x="6473952" y="1408176"/>
            <a:ext cx="274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784848" y="1408176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332"/>
                </a:solidFill>
              </a:rPr>
              <a:t>Paper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784848" y="1600200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C757D"/>
                </a:solidFill>
              </a:rPr>
              <a:t>111/119 correct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C757D"/>
                </a:solidFill>
              </a:rPr>
              <a:t>Best performing!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446520" y="1938528"/>
            <a:ext cx="2286000" cy="475488"/>
          </a:xfrm>
          <a:prstGeom prst="rect">
            <a:avLst/>
          </a:prstGeom>
          <a:solidFill>
            <a:srgbClr val="F8FAF9"/>
          </a:solidFill>
          <a:ln/>
        </p:spPr>
      </p:sp>
      <p:sp>
        <p:nvSpPr>
          <p:cNvPr id="13" name="Text 10"/>
          <p:cNvSpPr/>
          <p:nvPr/>
        </p:nvSpPr>
        <p:spPr>
          <a:xfrm>
            <a:off x="6473952" y="1956816"/>
            <a:ext cx="274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784848" y="1956816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332"/>
                </a:solidFill>
              </a:rPr>
              <a:t>Glass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784848" y="2148840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C757D"/>
                </a:solidFill>
              </a:rPr>
              <a:t>86/100 correct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C757D"/>
                </a:solidFill>
              </a:rPr>
              <a:t>Good accuracy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446520" y="2487168"/>
            <a:ext cx="2286000" cy="475488"/>
          </a:xfrm>
          <a:prstGeom prst="rect">
            <a:avLst/>
          </a:prstGeom>
          <a:solidFill>
            <a:srgbClr val="D8F3DC"/>
          </a:solidFill>
          <a:ln/>
        </p:spPr>
      </p:sp>
      <p:sp>
        <p:nvSpPr>
          <p:cNvPr id="17" name="Text 14"/>
          <p:cNvSpPr/>
          <p:nvPr/>
        </p:nvSpPr>
        <p:spPr>
          <a:xfrm>
            <a:off x="6473952" y="2505456"/>
            <a:ext cx="274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⚠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784848" y="2505456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332"/>
                </a:solidFill>
              </a:rPr>
              <a:t>Plastic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784848" y="2697480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C757D"/>
                </a:solidFill>
              </a:rPr>
              <a:t>12 confused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C757D"/>
                </a:solidFill>
              </a:rPr>
              <a:t>with Glass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446520" y="3035808"/>
            <a:ext cx="2286000" cy="475488"/>
          </a:xfrm>
          <a:prstGeom prst="rect">
            <a:avLst/>
          </a:prstGeom>
          <a:solidFill>
            <a:srgbClr val="F8FAF9"/>
          </a:solidFill>
          <a:ln/>
        </p:spPr>
      </p:sp>
      <p:sp>
        <p:nvSpPr>
          <p:cNvPr id="21" name="Text 18"/>
          <p:cNvSpPr/>
          <p:nvPr/>
        </p:nvSpPr>
        <p:spPr>
          <a:xfrm>
            <a:off x="6473952" y="3054096"/>
            <a:ext cx="274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⚠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6784848" y="3054096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332"/>
                </a:solidFill>
              </a:rPr>
              <a:t>Cardboard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784848" y="3246120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C757D"/>
                </a:solidFill>
              </a:rPr>
              <a:t>9 confused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C757D"/>
                </a:solidFill>
              </a:rPr>
              <a:t>with Paper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6446520" y="3584448"/>
            <a:ext cx="2286000" cy="475488"/>
          </a:xfrm>
          <a:prstGeom prst="rect">
            <a:avLst/>
          </a:prstGeom>
          <a:solidFill>
            <a:srgbClr val="D8F3DC"/>
          </a:solidFill>
          <a:ln/>
        </p:spPr>
      </p:sp>
      <p:sp>
        <p:nvSpPr>
          <p:cNvPr id="25" name="Text 22"/>
          <p:cNvSpPr/>
          <p:nvPr/>
        </p:nvSpPr>
        <p:spPr>
          <a:xfrm>
            <a:off x="6473952" y="3602736"/>
            <a:ext cx="274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❌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6784848" y="3602736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332"/>
                </a:solidFill>
              </a:rPr>
              <a:t>Trash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6784848" y="3794760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C757D"/>
                </a:solidFill>
              </a:rPr>
              <a:t>20/27 correct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C757D"/>
                </a:solidFill>
              </a:rPr>
              <a:t>Needs more data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320040" y="4846320"/>
            <a:ext cx="5943600" cy="201168"/>
          </a:xfrm>
          <a:prstGeom prst="rect">
            <a:avLst/>
          </a:prstGeom>
          <a:solidFill>
            <a:srgbClr val="D8F3DC"/>
          </a:solidFill>
          <a:ln/>
        </p:spPr>
      </p:sp>
      <p:sp>
        <p:nvSpPr>
          <p:cNvPr id="29" name="Text 26"/>
          <p:cNvSpPr/>
          <p:nvPr/>
        </p:nvSpPr>
        <p:spPr>
          <a:xfrm>
            <a:off x="365760" y="4846320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4332"/>
                </a:solidFill>
              </a:rPr>
              <a:t>🟢 Diagonal = Correct Predictions  |  🔴 Orange cells = Significant misclassifications (&gt;5 errors)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Streamlit Web Application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416052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4160520" cy="365760"/>
          </a:xfrm>
          <a:prstGeom prst="rect">
            <a:avLst/>
          </a:prstGeom>
          <a:solidFill>
            <a:srgbClr val="40916C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6012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🏠 Home &amp; Classification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371600"/>
            <a:ext cx="39319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</a:rPr>
              <a:t>Upload / Camera input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</a:rPr>
              <a:t>Real-time classification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</a:rPr>
              <a:t>Top-3 predictions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</a:rPr>
              <a:t>Confidence donut chart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</a:rPr>
              <a:t>Download report (.txt)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3044952"/>
            <a:ext cx="416052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3044952"/>
            <a:ext cx="4160520" cy="365760"/>
          </a:xfrm>
          <a:prstGeom prst="rect">
            <a:avLst/>
          </a:prstGeom>
          <a:solidFill>
            <a:srgbClr val="40916C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3044952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📈 Model Performance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3456432"/>
            <a:ext cx="39319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</a:rPr>
              <a:t>Accuracy &amp; Loss curves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</a:rPr>
              <a:t>Interactive Confusion Matrix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</a:rPr>
              <a:t>Class-wise bar charts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</a:rPr>
              <a:t>Precision/Recall/F1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00600" y="960120"/>
            <a:ext cx="416052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00600" y="960120"/>
            <a:ext cx="4160520" cy="36576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96012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ℹ About &amp; Info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92040" y="1371600"/>
            <a:ext cx="39319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</a:rPr>
              <a:t>Project description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</a:rPr>
              <a:t>Technology stack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</a:rPr>
              <a:t>Dataset details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</a:rPr>
              <a:t>Waste class expandables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</a:rPr>
              <a:t>Environmental impact table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00600" y="3044952"/>
            <a:ext cx="416052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00600" y="3044952"/>
            <a:ext cx="4160520" cy="36576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3044952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⚙ Settings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92040" y="3456432"/>
            <a:ext cx="39319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</a:rPr>
              <a:t>Confidence threshold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</a:rPr>
              <a:t>Top-K predictions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</a:rPr>
              <a:t>Theme &amp; chart style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</a:rPr>
              <a:t>GPU toggle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</a:rPr>
              <a:t>Model architecture details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4892040"/>
            <a:ext cx="8503920" cy="201168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489204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2B788"/>
                </a:solidFill>
              </a:rPr>
              <a:t>♻  Demo Mode if no model   |   📊  Plotly Interactive Charts   |   🌍  Environmental Impact Metrics   |   ⚡  &lt;1s Inference Time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🚀  How to Run — RecycleVision App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402336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14400"/>
            <a:ext cx="4023360" cy="36576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144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📦  Step 1: Install Requirements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84048" y="1371600"/>
            <a:ext cx="3840480" cy="132588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8" name="Text 6"/>
          <p:cNvSpPr/>
          <p:nvPr/>
        </p:nvSpPr>
        <p:spPr>
          <a:xfrm>
            <a:off x="475488" y="1417320"/>
            <a:ext cx="36576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74C6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streamlit tensorflow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4C6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opencv-python pillow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4C6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plotly pandas numpy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4C6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seaborn matplotlib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914400"/>
            <a:ext cx="406908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914400"/>
            <a:ext cx="4069080" cy="36576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9144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📁  Step 2: Project Folder Structure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18888" y="1371600"/>
            <a:ext cx="3931920" cy="132588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3" name="Text 11"/>
          <p:cNvSpPr/>
          <p:nvPr/>
        </p:nvSpPr>
        <p:spPr>
          <a:xfrm>
            <a:off x="4910328" y="1417320"/>
            <a:ext cx="37490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4C6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RecycleVision_Project/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4C6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Garbage classification/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4C6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app.py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4C6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RecycleVision_Final_Model.keras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4C6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RecycleVision_Project.ipynb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4C6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└── requirements.txt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2944368"/>
            <a:ext cx="8503920" cy="1188720"/>
          </a:xfrm>
          <a:prstGeom prst="rect">
            <a:avLst/>
          </a:prstGeom>
          <a:solidFill>
            <a:srgbClr val="1B4332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" y="29900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2B788"/>
                </a:solidFill>
              </a:rPr>
              <a:t>▶  Step 3: Run the App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337560"/>
            <a:ext cx="8138160" cy="658368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337560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4C6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streamlit run app.py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320040" y="4251960"/>
            <a:ext cx="850392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4251960"/>
            <a:ext cx="73152" cy="685800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42519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332"/>
                </a:solidFill>
              </a:rPr>
              <a:t>🌐  Step 4: Browser automatically opens at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" y="455371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091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👉  http://localhost:8501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663440" y="4315968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</a:rPr>
              <a:t>💡  Model file (.keras) same folder mein rakhein — Auto-load hoga!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3200400"/>
            <a:ext cx="2743200" cy="274320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</a:rPr>
              <a:t>Results &amp; Conclusion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0" y="914400"/>
            <a:ext cx="2743200" cy="36576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97280"/>
            <a:ext cx="2560320" cy="1143000"/>
          </a:xfrm>
          <a:prstGeom prst="rect">
            <a:avLst/>
          </a:prstGeom>
          <a:solidFill>
            <a:srgbClr val="2D6A4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1430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🏆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150876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2B788"/>
                </a:solidFill>
              </a:rPr>
              <a:t>84.2%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" y="189280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8F3DC"/>
                </a:solidFill>
              </a:rPr>
              <a:t>Best Val Accuracy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1097280"/>
            <a:ext cx="2560320" cy="1143000"/>
          </a:xfrm>
          <a:prstGeom prst="rect">
            <a:avLst/>
          </a:prstGeom>
          <a:solidFill>
            <a:srgbClr val="2D6A4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91840" y="11430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291840" y="150876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2B788"/>
                </a:solidFill>
              </a:rPr>
              <a:t>0.83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291840" y="189280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8F3DC"/>
                </a:solidFill>
              </a:rPr>
              <a:t>Weighted F1-Score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1097280"/>
            <a:ext cx="2560320" cy="1143000"/>
          </a:xfrm>
          <a:prstGeom prst="rect">
            <a:avLst/>
          </a:prstGeom>
          <a:solidFill>
            <a:srgbClr val="2D6A4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26480" y="11430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⚖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126480" y="150876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2B788"/>
                </a:solidFill>
              </a:rPr>
              <a:t>3.07×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126480" y="189280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8F3DC"/>
                </a:solidFill>
              </a:rPr>
              <a:t>Trash Class Weight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423160"/>
            <a:ext cx="2560320" cy="1143000"/>
          </a:xfrm>
          <a:prstGeom prst="rect">
            <a:avLst/>
          </a:prstGeom>
          <a:solidFill>
            <a:srgbClr val="2D6A4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7200" y="24688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🔢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57200" y="283464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2B788"/>
                </a:solidFill>
              </a:rPr>
              <a:t>2,532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57200" y="321868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8F3DC"/>
                </a:solidFill>
              </a:rPr>
              <a:t>Total Images Used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91840" y="2423160"/>
            <a:ext cx="2560320" cy="1143000"/>
          </a:xfrm>
          <a:prstGeom prst="rect">
            <a:avLst/>
          </a:prstGeom>
          <a:solidFill>
            <a:srgbClr val="2D6A4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291840" y="24688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🧠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3291840" y="283464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2B788"/>
                </a:solidFill>
              </a:rPr>
              <a:t>4.38M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3291840" y="321868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8F3DC"/>
                </a:solidFill>
              </a:rPr>
              <a:t>Total Parameters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26480" y="2423160"/>
            <a:ext cx="2560320" cy="1143000"/>
          </a:xfrm>
          <a:prstGeom prst="rect">
            <a:avLst/>
          </a:prstGeom>
          <a:solidFill>
            <a:srgbClr val="2D6A4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126480" y="24688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126480" y="283464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2B788"/>
                </a:solidFill>
              </a:rPr>
              <a:t>&lt;1s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6126480" y="321868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8F3DC"/>
                </a:solidFill>
              </a:rPr>
              <a:t>Inference Speed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5760" y="3840480"/>
            <a:ext cx="8412480" cy="1051560"/>
          </a:xfrm>
          <a:prstGeom prst="rect">
            <a:avLst/>
          </a:prstGeom>
          <a:solidFill>
            <a:srgbClr val="40916C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3840480"/>
            <a:ext cx="8229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✅ EfficientNetB0 Transfer Learning achieved 84% accuracy on 6-class waste classification  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✅ Class imbalance handled via balanced weights  |  ✅ Full Streamlit app deployed with camera input &amp; report download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Future Work &amp; Improvements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274320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2743200" cy="73152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06984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🔓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11480" y="158191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4332"/>
                </a:solidFill>
              </a:rPr>
              <a:t>Fine Tuning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87452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C757D"/>
                </a:solidFill>
              </a:rPr>
              <a:t>Unfreeze top layers of EfficientNetB0 to push accuracy above 85%+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64408" y="960120"/>
            <a:ext cx="274320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64408" y="960120"/>
            <a:ext cx="2743200" cy="73152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1" name="Text 9"/>
          <p:cNvSpPr/>
          <p:nvPr/>
        </p:nvSpPr>
        <p:spPr>
          <a:xfrm>
            <a:off x="3264408" y="106984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📦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355848" y="158191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6A4F"/>
                </a:solidFill>
              </a:rPr>
              <a:t>More Data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55848" y="187452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C757D"/>
                </a:solidFill>
              </a:rPr>
              <a:t>Expand trash class with 500+ more samples to fix class imbalance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08776" y="960120"/>
            <a:ext cx="274320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08776" y="960120"/>
            <a:ext cx="2743200" cy="73152"/>
          </a:xfrm>
          <a:prstGeom prst="rect">
            <a:avLst/>
          </a:prstGeom>
          <a:solidFill>
            <a:srgbClr val="40916C"/>
          </a:solidFill>
          <a:ln/>
        </p:spPr>
      </p:sp>
      <p:sp>
        <p:nvSpPr>
          <p:cNvPr id="16" name="Text 14"/>
          <p:cNvSpPr/>
          <p:nvPr/>
        </p:nvSpPr>
        <p:spPr>
          <a:xfrm>
            <a:off x="6208776" y="106984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🏗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300216" y="158191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0916C"/>
                </a:solidFill>
              </a:rPr>
              <a:t>12-Class Model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00216" y="187452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C757D"/>
                </a:solidFill>
              </a:rPr>
              <a:t>Use Garbage Classification V2 dataset with 12 waste categories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0040" y="2953512"/>
            <a:ext cx="274320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2953512"/>
            <a:ext cx="2743200" cy="73152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21" name="Text 19"/>
          <p:cNvSpPr/>
          <p:nvPr/>
        </p:nvSpPr>
        <p:spPr>
          <a:xfrm>
            <a:off x="320040" y="30632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☁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411480" y="357530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2B788"/>
                </a:solidFill>
              </a:rPr>
              <a:t>Cloud Deploy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11480" y="3867912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C757D"/>
                </a:solidFill>
              </a:rPr>
              <a:t>Deploy on Streamlit Cloud / AWS / GCP for public access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64408" y="2953512"/>
            <a:ext cx="274320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64408" y="2953512"/>
            <a:ext cx="2743200" cy="73152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26" name="Text 24"/>
          <p:cNvSpPr/>
          <p:nvPr/>
        </p:nvSpPr>
        <p:spPr>
          <a:xfrm>
            <a:off x="3264408" y="30632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📱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3355848" y="357530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6A4F"/>
                </a:solidFill>
              </a:rPr>
              <a:t>Mobile App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355848" y="3867912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C757D"/>
                </a:solidFill>
              </a:rPr>
              <a:t>Convert to TensorFlow Lite for real-time mobile classification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208776" y="2953512"/>
            <a:ext cx="274320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08776" y="2953512"/>
            <a:ext cx="2743200" cy="73152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1" name="Text 29"/>
          <p:cNvSpPr/>
          <p:nvPr/>
        </p:nvSpPr>
        <p:spPr>
          <a:xfrm>
            <a:off x="6208776" y="30632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6300216" y="357530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4332"/>
                </a:solidFill>
              </a:rPr>
              <a:t>Ensemble Model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300216" y="3867912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C757D"/>
                </a:solidFill>
              </a:rPr>
              <a:t>Combine MobileNetV2 + EfficientNetB0 for higher accuracy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914400"/>
            <a:ext cx="4572000" cy="457200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286000"/>
            <a:ext cx="3657600" cy="365760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0" y="45720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dirty="0">
                <a:solidFill>
                  <a:srgbClr val="52B788"/>
                </a:solidFill>
              </a:rPr>
              <a:t>♻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914400" y="150876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</a:rPr>
              <a:t>Thank You!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914400" y="25603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4C69D"/>
                </a:solidFill>
              </a:rPr>
              <a:t>RecycleVision — Making Waste Management Smarter with AI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0" y="3200400"/>
            <a:ext cx="2743200" cy="36576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3401568"/>
            <a:ext cx="1261872" cy="347472"/>
          </a:xfrm>
          <a:prstGeom prst="roundRect">
            <a:avLst>
              <a:gd name="adj" fmla="val 21053"/>
            </a:avLst>
          </a:prstGeom>
          <a:solidFill>
            <a:srgbClr val="40916C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3401568"/>
            <a:ext cx="1261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Python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47088" y="3401568"/>
            <a:ext cx="1261872" cy="347472"/>
          </a:xfrm>
          <a:prstGeom prst="roundRect">
            <a:avLst>
              <a:gd name="adj" fmla="val 21053"/>
            </a:avLst>
          </a:prstGeom>
          <a:solidFill>
            <a:srgbClr val="40916C"/>
          </a:solidFill>
          <a:ln/>
        </p:spPr>
      </p:sp>
      <p:sp>
        <p:nvSpPr>
          <p:cNvPr id="11" name="Text 9"/>
          <p:cNvSpPr/>
          <p:nvPr/>
        </p:nvSpPr>
        <p:spPr>
          <a:xfrm>
            <a:off x="1847088" y="3401568"/>
            <a:ext cx="1261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TensorFlow 2.19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36976" y="3401568"/>
            <a:ext cx="1261872" cy="347472"/>
          </a:xfrm>
          <a:prstGeom prst="roundRect">
            <a:avLst>
              <a:gd name="adj" fmla="val 21053"/>
            </a:avLst>
          </a:prstGeom>
          <a:solidFill>
            <a:srgbClr val="40916C"/>
          </a:solidFill>
          <a:ln/>
        </p:spPr>
      </p:sp>
      <p:sp>
        <p:nvSpPr>
          <p:cNvPr id="13" name="Text 11"/>
          <p:cNvSpPr/>
          <p:nvPr/>
        </p:nvSpPr>
        <p:spPr>
          <a:xfrm>
            <a:off x="3236976" y="3401568"/>
            <a:ext cx="1261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EfficientNetB0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26864" y="3401568"/>
            <a:ext cx="1261872" cy="347472"/>
          </a:xfrm>
          <a:prstGeom prst="roundRect">
            <a:avLst>
              <a:gd name="adj" fmla="val 21053"/>
            </a:avLst>
          </a:prstGeom>
          <a:solidFill>
            <a:srgbClr val="40916C"/>
          </a:solidFill>
          <a:ln/>
        </p:spPr>
      </p:sp>
      <p:sp>
        <p:nvSpPr>
          <p:cNvPr id="15" name="Text 13"/>
          <p:cNvSpPr/>
          <p:nvPr/>
        </p:nvSpPr>
        <p:spPr>
          <a:xfrm>
            <a:off x="4626864" y="3401568"/>
            <a:ext cx="1261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Streamlit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16752" y="3401568"/>
            <a:ext cx="1261872" cy="347472"/>
          </a:xfrm>
          <a:prstGeom prst="roundRect">
            <a:avLst>
              <a:gd name="adj" fmla="val 21053"/>
            </a:avLst>
          </a:prstGeom>
          <a:solidFill>
            <a:srgbClr val="40916C"/>
          </a:solidFill>
          <a:ln/>
        </p:spPr>
      </p:sp>
      <p:sp>
        <p:nvSpPr>
          <p:cNvPr id="17" name="Text 15"/>
          <p:cNvSpPr/>
          <p:nvPr/>
        </p:nvSpPr>
        <p:spPr>
          <a:xfrm>
            <a:off x="6016752" y="3401568"/>
            <a:ext cx="1261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Plotly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406640" y="3401568"/>
            <a:ext cx="1261872" cy="347472"/>
          </a:xfrm>
          <a:prstGeom prst="roundRect">
            <a:avLst>
              <a:gd name="adj" fmla="val 21053"/>
            </a:avLst>
          </a:prstGeom>
          <a:solidFill>
            <a:srgbClr val="40916C"/>
          </a:solidFill>
          <a:ln/>
        </p:spPr>
      </p:sp>
      <p:sp>
        <p:nvSpPr>
          <p:cNvPr id="19" name="Text 17"/>
          <p:cNvSpPr/>
          <p:nvPr/>
        </p:nvSpPr>
        <p:spPr>
          <a:xfrm>
            <a:off x="7406640" y="3401568"/>
            <a:ext cx="1261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OpenCV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4C69D"/>
                </a:solidFill>
              </a:rPr>
              <a:t>© 2024 RecycleVision Deep Learning Project  |  EfficientNetB0  |  84% Accuracy  |  6 Waste Classes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1022</Words>
  <Application>Microsoft Office PowerPoint</Application>
  <PresentationFormat>On-screen Show (16:9)</PresentationFormat>
  <Paragraphs>382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RecycleVision - Garbage Image Classification</dc:title>
  <dc:subject>PptxGenJS Presentation</dc:subject>
  <dc:creator>RecycleVision Team</dc:creator>
  <cp:lastModifiedBy>Rudra Barman</cp:lastModifiedBy>
  <cp:revision>2</cp:revision>
  <dcterms:created xsi:type="dcterms:W3CDTF">2026-03-06T07:40:43Z</dcterms:created>
  <dcterms:modified xsi:type="dcterms:W3CDTF">2026-03-06T07:47:42Z</dcterms:modified>
</cp:coreProperties>
</file>